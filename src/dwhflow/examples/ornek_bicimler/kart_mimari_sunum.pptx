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11"/>
    <p:sldId id="258" r:id="rId1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11" Type="http://schemas.openxmlformats.org/officeDocument/2006/relationships/slide" Target="slides/slide2.xml"/><Relationship Id="rId12" Type="http://schemas.openxmlformats.org/officeDocument/2006/relationships/slide" Target="slides/slide1.xml"/></Relationships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ayt Görüntüsü 1"/>
          <p:cNvSpPr/>
          <p:nvPr>
            <p:ph type="sldImg"/>
          </p:nvPr>
        </p:nvSpPr>
        <p:spPr/>
      </p:sp>
      <p:sp>
        <p:nvSpPr>
          <p:cNvPr id="3" name="Not 2"/>
          <p:cNvSpPr/>
          <p:nvPr>
            <p:ph type="body"/>
          </p:nvPr>
        </p:nvSpPr>
        <p:spPr/>
        <p:txBody>
          <a:bodyPr/>
          <a:lstStyle/>
          <a:p>
            <a:r>
              <a:rPr lang="tr-TR"/>
              <a:t>Konuşmacı notu: DWH.MART_KART_OZET tablosundan EXP_BDDK_KART dosyasına EXP_BDDK işiyle aktarılır.</a:t>
            </a:r>
          </a:p>
          <a:p>
            <a:r>
              <a:rPr lang="tr-TR"/>
              <a:t>Soru gelirse gönderim saatini söyle.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şlık 1"/>
          <p:cNvSpPr/>
          <p:nvPr>
            <p:ph type="title"/>
          </p:nvPr>
        </p:nvSpPr>
        <p:spPr/>
        <p:txBody>
          <a:bodyPr/>
          <a:lstStyle/>
          <a:p>
            <a:r>
              <a:rPr lang="tr-TR"/>
              <a:t>Mart katmanı</a:t>
            </a:r>
          </a:p>
        </p:txBody>
      </p:sp>
      <p:sp>
        <p:nvSpPr>
          <p:cNvPr id="3" name="İçerik 2"/>
          <p:cNvSpPr/>
          <p:nvPr>
            <p:ph type="body"/>
          </p:nvPr>
        </p:nvSpPr>
        <p:spPr/>
        <p:txBody>
          <a:bodyPr/>
          <a:lstStyle/>
          <a:p>
            <a:r>
              <a:rPr lang="tr-TR"/>
              <a:t>ODS_KART_ISLEM tablosundan DWH.F_KART_ISLEM tablosuna LOAD_F_KART_ISLEM işiyle yüklenir.</a:t>
            </a:r>
          </a:p>
          <a:p>
            <a:r>
              <a:rPr lang="tr-TR"/>
              <a:t>Özet tablo gün ve segment kırılımında tutulur.</a:t>
            </a:r>
          </a:p>
        </p:txBody>
      </p:sp>
      <p:graphicFrame>
        <p:nvGraphicFramePr>
          <p:cNvPr id="4" name="Tablo 4"/>
          <p:cNvGraphicFramePr>
            <a:graphicFrameLocks noGrp="1"/>
          </p:cNvGraphicFramePr>
          <p:nvPr/>
        </p:nvGraphicFramePr>
        <p:xfrm>
          <a:off x="457200" y="2286000"/>
          <a:ext cx="7315200" cy="1112520"/>
        </p:xfrm>
        <a:graphic>
          <a:graphicData uri="http://schemas.openxmlformats.org/drawingml/2006/table">
            <a:tbl>
              <a:tblPr firstRow="1"/>
              <a:tblGrid>
                <a:gridCol w="2438400"/>
                <a:gridCol w="2438400"/>
                <a:gridCol w="2438400"/>
              </a:tblGrid>
              <a:tr h="370840">
                <a:tc>
                  <a:txBody>
                    <a:bodyPr/>
                    <a:lstStyle/>
                    <a:p>
                      <a:r>
                        <a:t>Kaynak Tablo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Hedef Tablo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Job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DWH.F_KART_ISLEM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DWH.MART_KART_OZET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LOAD_MART_KART_OZET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DWH.D_MUSTERI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DWH.MART_KART_OZET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LOAD_MART_KART_OZET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Slayt Numarası 3"/>
          <p:cNvSpPr/>
          <p:nvPr>
            <p:ph type="sldNum"/>
          </p:nvPr>
        </p:nvSpPr>
        <p:spPr/>
        <p:txBody>
          <a:bodyPr/>
          <a:lstStyle/>
          <a:p>
            <a:r>
              <a:rPr lang="tr-TR"/>
              <a:t>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şlık 1"/>
          <p:cNvSpPr/>
          <p:nvPr>
            <p:ph type="title"/>
          </p:nvPr>
        </p:nvSpPr>
        <p:spPr/>
        <p:txBody>
          <a:bodyPr/>
          <a:lstStyle/>
          <a:p>
            <a:r>
              <a:rPr lang="tr-TR"/>
              <a:t>Kart İşlemleri Veri Ambarı Mimarisi</a:t>
            </a:r>
          </a:p>
        </p:txBody>
      </p:sp>
      <p:sp>
        <p:nvSpPr>
          <p:cNvPr id="3" name="İçerik 2"/>
          <p:cNvSpPr/>
          <p:nvPr>
            <p:ph type="body"/>
          </p:nvPr>
        </p:nvSpPr>
        <p:spPr/>
        <p:txBody>
          <a:bodyPr/>
          <a:lstStyle/>
          <a:p>
            <a:r>
              <a:rPr lang="tr-TR"/>
              <a:t>Mart katmanı ve BDDK bildirimi</a:t>
            </a:r>
          </a:p>
          <a:p>
            <a:r>
              <a:rPr lang="tr-TR"/>
              <a:t>Sürüm 2026.1</a:t>
            </a:r>
          </a:p>
        </p:txBody>
      </p:sp>
      <p:sp>
        <p:nvSpPr>
          <p:cNvPr id="5" name="Slayt Numarası 3"/>
          <p:cNvSpPr/>
          <p:nvPr>
            <p:ph type="sldNum"/>
          </p:nvPr>
        </p:nvSpPr>
        <p:spPr/>
        <p:txBody>
          <a:bodyPr/>
          <a:lstStyle/>
          <a:p>
            <a:r>
              <a:rPr lang="tr-TR"/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is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